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5" r:id="rId4"/>
  </p:sldMasterIdLst>
  <p:notesMasterIdLst>
    <p:notesMasterId r:id="rId13"/>
  </p:notesMasterIdLst>
  <p:handoutMasterIdLst>
    <p:handoutMasterId r:id="rId14"/>
  </p:handoutMasterIdLst>
  <p:sldIdLst>
    <p:sldId id="278" r:id="rId5"/>
    <p:sldId id="256" r:id="rId6"/>
    <p:sldId id="257" r:id="rId7"/>
    <p:sldId id="279" r:id="rId8"/>
    <p:sldId id="258" r:id="rId9"/>
    <p:sldId id="280" r:id="rId10"/>
    <p:sldId id="281" r:id="rId11"/>
    <p:sldId id="282"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655" autoAdjust="0"/>
  </p:normalViewPr>
  <p:slideViewPr>
    <p:cSldViewPr snapToGrid="0">
      <p:cViewPr varScale="1">
        <p:scale>
          <a:sx n="64" d="100"/>
          <a:sy n="64" d="100"/>
        </p:scale>
        <p:origin x="696" y="58"/>
      </p:cViewPr>
      <p:guideLst/>
    </p:cSldViewPr>
  </p:slideViewPr>
  <p:outlineViewPr>
    <p:cViewPr>
      <p:scale>
        <a:sx n="33" d="100"/>
        <a:sy n="33" d="100"/>
      </p:scale>
      <p:origin x="0" y="-288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03" y="29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10/2/2024</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10/2/2024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2182522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a:t>
            </a:fld>
            <a:endParaRPr lang="en-US" dirty="0"/>
          </a:p>
        </p:txBody>
      </p:sp>
    </p:spTree>
    <p:extLst>
      <p:ext uri="{BB962C8B-B14F-4D97-AF65-F5344CB8AC3E}">
        <p14:creationId xmlns:p14="http://schemas.microsoft.com/office/powerpoint/2010/main" val="17781288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3</a:t>
            </a:fld>
            <a:endParaRPr lang="en-US" dirty="0"/>
          </a:p>
        </p:txBody>
      </p:sp>
    </p:spTree>
    <p:extLst>
      <p:ext uri="{BB962C8B-B14F-4D97-AF65-F5344CB8AC3E}">
        <p14:creationId xmlns:p14="http://schemas.microsoft.com/office/powerpoint/2010/main" val="4040438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4</a:t>
            </a:fld>
            <a:endParaRPr lang="en-US" dirty="0"/>
          </a:p>
        </p:txBody>
      </p:sp>
    </p:spTree>
    <p:extLst>
      <p:ext uri="{BB962C8B-B14F-4D97-AF65-F5344CB8AC3E}">
        <p14:creationId xmlns:p14="http://schemas.microsoft.com/office/powerpoint/2010/main" val="20903241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5</a:t>
            </a:fld>
            <a:endParaRPr lang="en-US" dirty="0"/>
          </a:p>
        </p:txBody>
      </p:sp>
    </p:spTree>
    <p:extLst>
      <p:ext uri="{BB962C8B-B14F-4D97-AF65-F5344CB8AC3E}">
        <p14:creationId xmlns:p14="http://schemas.microsoft.com/office/powerpoint/2010/main" val="2843954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6</a:t>
            </a:fld>
            <a:endParaRPr lang="en-US" dirty="0"/>
          </a:p>
        </p:txBody>
      </p:sp>
    </p:spTree>
    <p:extLst>
      <p:ext uri="{BB962C8B-B14F-4D97-AF65-F5344CB8AC3E}">
        <p14:creationId xmlns:p14="http://schemas.microsoft.com/office/powerpoint/2010/main" val="20661440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7</a:t>
            </a:fld>
            <a:endParaRPr lang="en-US" dirty="0"/>
          </a:p>
        </p:txBody>
      </p:sp>
    </p:spTree>
    <p:extLst>
      <p:ext uri="{BB962C8B-B14F-4D97-AF65-F5344CB8AC3E}">
        <p14:creationId xmlns:p14="http://schemas.microsoft.com/office/powerpoint/2010/main" val="1025326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5332412" y="5883275"/>
            <a:ext cx="4324044" cy="365125"/>
          </a:xfrm>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3205078175"/>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3130912996"/>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1328595527"/>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395450846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165028423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2986398275"/>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3201575623"/>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225658845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3697017142"/>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101038668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7329798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1247298393"/>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1955356197"/>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3634074746"/>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1467466356"/>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627314457"/>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3120734694"/>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477540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95771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9515609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8275656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Section Break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anchor="b">
            <a:noAutofit/>
          </a:bodyPr>
          <a:lstStyle>
            <a:lvl1pPr algn="l">
              <a:defRPr sz="3600" spc="150" baseline="0">
                <a:solidFill>
                  <a:schemeClr val="bg1"/>
                </a:solidFill>
              </a:defRPr>
            </a:lvl1pPr>
          </a:lstStyle>
          <a:p>
            <a:r>
              <a:rPr lang="en-US" dirty="0"/>
              <a:t>CLICK TO add title</a:t>
            </a:r>
          </a:p>
        </p:txBody>
      </p:sp>
      <p:pic>
        <p:nvPicPr>
          <p:cNvPr id="4" name="Graphic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16147561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dirty="0"/>
              <a:t>PRESENTATION TITLE</a:t>
            </a:r>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2408873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Straight Connecto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r>
              <a:rPr lang="en-US" dirty="0"/>
              <a:t>PRESENTATION TITLE</a:t>
            </a:r>
          </a:p>
        </p:txBody>
      </p:sp>
      <p:sp>
        <p:nvSpPr>
          <p:cNvPr id="20" name="Slide Number Placehold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1120855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r>
              <a:rPr lang="en-US" dirty="0"/>
              <a:t>PRESENTATION TITLE</a:t>
            </a:r>
          </a:p>
        </p:txBody>
      </p:sp>
      <p:sp>
        <p:nvSpPr>
          <p:cNvPr id="5" name="Slide Number Placehold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
        <p:nvSpPr>
          <p:cNvPr id="8" name="Content Placehold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US"/>
              <a:t>Click icon to add table</a:t>
            </a:r>
            <a:endParaRPr lang="en-US" dirty="0"/>
          </a:p>
        </p:txBody>
      </p:sp>
      <p:sp>
        <p:nvSpPr>
          <p:cNvPr id="10" name="Footer Placehold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r>
              <a:rPr lang="en-US" dirty="0"/>
              <a:t>PRESENTATION TITLE</a:t>
            </a:r>
          </a:p>
        </p:txBody>
      </p:sp>
      <p:sp>
        <p:nvSpPr>
          <p:cNvPr id="11" name="Slide Number Placehold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grpSp>
        <p:nvGrpSpPr>
          <p:cNvPr id="14" name="Group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Straight Connecto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US"/>
              <a:t>Click icon to add table</a:t>
            </a:r>
            <a:endParaRPr lang="en-US" dirty="0"/>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dirty="0"/>
              <a:t>PRESENTATION TITLE</a:t>
            </a:r>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a:t>PRESENTATION TITLE</a:t>
            </a:r>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480159532"/>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 id="2147483697" r:id="rId22"/>
    <p:sldLayoutId id="2147483698" r:id="rId23"/>
    <p:sldLayoutId id="2147483673" r:id="rId24"/>
    <p:sldLayoutId id="2147483664" r:id="rId25"/>
    <p:sldLayoutId id="2147483674" r:id="rId26"/>
    <p:sldLayoutId id="2147483653" r:id="rId27"/>
    <p:sldLayoutId id="2147483667" r:id="rId28"/>
  </p:sldLayoutIdLst>
  <p:hf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8DBD1-DB29-D44F-FD5A-3071BB37EF37}"/>
              </a:ext>
            </a:extLst>
          </p:cNvPr>
          <p:cNvSpPr>
            <a:spLocks noGrp="1"/>
          </p:cNvSpPr>
          <p:nvPr>
            <p:ph type="ctrTitle"/>
          </p:nvPr>
        </p:nvSpPr>
        <p:spPr>
          <a:xfrm>
            <a:off x="6605337" y="583270"/>
            <a:ext cx="5371699" cy="4734687"/>
          </a:xfrm>
        </p:spPr>
        <p:txBody>
          <a:bodyPr/>
          <a:lstStyle/>
          <a:p>
            <a:r>
              <a:rPr lang="en-US" sz="2800" b="1" dirty="0">
                <a:latin typeface="Arial Unicode MS" panose="020B0604020202020204" pitchFamily="34" charset="-128"/>
                <a:ea typeface="Arial Unicode MS" panose="020B0604020202020204" pitchFamily="34" charset="-128"/>
                <a:cs typeface="Arial Unicode MS" panose="020B0604020202020204" pitchFamily="34" charset="-128"/>
              </a:rPr>
              <a:t>What makes a leader?</a:t>
            </a:r>
            <a:br>
              <a:rPr lang="en-US" sz="1800" b="1" dirty="0">
                <a:latin typeface="Arial Unicode MS" panose="020B0604020202020204" pitchFamily="34" charset="-128"/>
                <a:ea typeface="Arial Unicode MS" panose="020B0604020202020204" pitchFamily="34" charset="-128"/>
                <a:cs typeface="Arial Unicode MS" panose="020B0604020202020204" pitchFamily="34" charset="-128"/>
              </a:rPr>
            </a:br>
            <a:br>
              <a:rPr lang="en-US" sz="1800" dirty="0">
                <a:latin typeface="Arial Unicode MS" panose="020B0604020202020204" pitchFamily="34" charset="-128"/>
                <a:ea typeface="Arial Unicode MS" panose="020B0604020202020204" pitchFamily="34" charset="-128"/>
                <a:cs typeface="Arial Unicode MS" panose="020B0604020202020204" pitchFamily="34" charset="-128"/>
              </a:rPr>
            </a:br>
            <a:r>
              <a:rPr lang="en-US" sz="1800" dirty="0">
                <a:latin typeface="Arial Unicode MS" panose="020B0604020202020204" pitchFamily="34" charset="-128"/>
                <a:ea typeface="Arial Unicode MS" panose="020B0604020202020204" pitchFamily="34" charset="-128"/>
                <a:cs typeface="Arial Unicode MS" panose="020B0604020202020204" pitchFamily="34" charset="-128"/>
              </a:rPr>
              <a:t>Guts to stand and confront the negative phase </a:t>
            </a:r>
            <a:br>
              <a:rPr lang="en-US" sz="1800" dirty="0">
                <a:latin typeface="Arial Unicode MS" panose="020B0604020202020204" pitchFamily="34" charset="-128"/>
                <a:ea typeface="Arial Unicode MS" panose="020B0604020202020204" pitchFamily="34" charset="-128"/>
                <a:cs typeface="Arial Unicode MS" panose="020B0604020202020204" pitchFamily="34" charset="-128"/>
              </a:rPr>
            </a:br>
            <a:br>
              <a:rPr lang="en-US" sz="1800" dirty="0">
                <a:latin typeface="Arial Unicode MS" panose="020B0604020202020204" pitchFamily="34" charset="-128"/>
                <a:ea typeface="Arial Unicode MS" panose="020B0604020202020204" pitchFamily="34" charset="-128"/>
                <a:cs typeface="Arial Unicode MS" panose="020B0604020202020204" pitchFamily="34" charset="-128"/>
              </a:rPr>
            </a:br>
            <a:r>
              <a:rPr lang="en-US" sz="1800" dirty="0">
                <a:latin typeface="Arial Unicode MS" panose="020B0604020202020204" pitchFamily="34" charset="-128"/>
                <a:ea typeface="Arial Unicode MS" panose="020B0604020202020204" pitchFamily="34" charset="-128"/>
                <a:cs typeface="Arial Unicode MS" panose="020B0604020202020204" pitchFamily="34" charset="-128"/>
              </a:rPr>
              <a:t>No blame Games</a:t>
            </a:r>
            <a:br>
              <a:rPr lang="en-US" sz="1800" dirty="0">
                <a:latin typeface="Arial Unicode MS" panose="020B0604020202020204" pitchFamily="34" charset="-128"/>
                <a:ea typeface="Arial Unicode MS" panose="020B0604020202020204" pitchFamily="34" charset="-128"/>
                <a:cs typeface="Arial Unicode MS" panose="020B0604020202020204" pitchFamily="34" charset="-128"/>
              </a:rPr>
            </a:br>
            <a:br>
              <a:rPr lang="en-US" sz="1800" dirty="0">
                <a:latin typeface="Arial Unicode MS" panose="020B0604020202020204" pitchFamily="34" charset="-128"/>
                <a:ea typeface="Arial Unicode MS" panose="020B0604020202020204" pitchFamily="34" charset="-128"/>
                <a:cs typeface="Arial Unicode MS" panose="020B0604020202020204" pitchFamily="34" charset="-128"/>
              </a:rPr>
            </a:br>
            <a:r>
              <a:rPr lang="en-US" sz="1800" dirty="0">
                <a:latin typeface="Arial Unicode MS" panose="020B0604020202020204" pitchFamily="34" charset="-128"/>
                <a:ea typeface="Arial Unicode MS" panose="020B0604020202020204" pitchFamily="34" charset="-128"/>
                <a:cs typeface="Arial Unicode MS" panose="020B0604020202020204" pitchFamily="34" charset="-128"/>
              </a:rPr>
              <a:t>Act as a sense of commitment</a:t>
            </a:r>
            <a:br>
              <a:rPr lang="en-US" sz="1800" dirty="0">
                <a:latin typeface="Arial Unicode MS" panose="020B0604020202020204" pitchFamily="34" charset="-128"/>
                <a:ea typeface="Arial Unicode MS" panose="020B0604020202020204" pitchFamily="34" charset="-128"/>
                <a:cs typeface="Arial Unicode MS" panose="020B0604020202020204" pitchFamily="34" charset="-128"/>
              </a:rPr>
            </a:br>
            <a:br>
              <a:rPr lang="en-US" sz="1800" dirty="0">
                <a:latin typeface="Arial Unicode MS" panose="020B0604020202020204" pitchFamily="34" charset="-128"/>
                <a:ea typeface="Arial Unicode MS" panose="020B0604020202020204" pitchFamily="34" charset="-128"/>
                <a:cs typeface="Arial Unicode MS" panose="020B0604020202020204" pitchFamily="34" charset="-128"/>
              </a:rPr>
            </a:br>
            <a:r>
              <a:rPr lang="en-US" sz="1800" dirty="0">
                <a:latin typeface="Arial Unicode MS" panose="020B0604020202020204" pitchFamily="34" charset="-128"/>
                <a:ea typeface="Arial Unicode MS" panose="020B0604020202020204" pitchFamily="34" charset="-128"/>
                <a:cs typeface="Arial Unicode MS" panose="020B0604020202020204" pitchFamily="34" charset="-128"/>
              </a:rPr>
              <a:t>Initiative in decision making</a:t>
            </a:r>
            <a:br>
              <a:rPr lang="en-US" sz="1800" dirty="0">
                <a:latin typeface="Arial Unicode MS" panose="020B0604020202020204" pitchFamily="34" charset="-128"/>
                <a:ea typeface="Arial Unicode MS" panose="020B0604020202020204" pitchFamily="34" charset="-128"/>
                <a:cs typeface="Arial Unicode MS" panose="020B0604020202020204" pitchFamily="34" charset="-128"/>
              </a:rPr>
            </a:br>
            <a:br>
              <a:rPr lang="en-US" sz="1800" dirty="0">
                <a:latin typeface="Arial Unicode MS" panose="020B0604020202020204" pitchFamily="34" charset="-128"/>
                <a:ea typeface="Arial Unicode MS" panose="020B0604020202020204" pitchFamily="34" charset="-128"/>
                <a:cs typeface="Arial Unicode MS" panose="020B0604020202020204" pitchFamily="34" charset="-128"/>
              </a:rPr>
            </a:br>
            <a:r>
              <a:rPr lang="en-US" sz="1800" dirty="0">
                <a:latin typeface="Arial Unicode MS" panose="020B0604020202020204" pitchFamily="34" charset="-128"/>
                <a:ea typeface="Arial Unicode MS" panose="020B0604020202020204" pitchFamily="34" charset="-128"/>
                <a:cs typeface="Arial Unicode MS" panose="020B0604020202020204" pitchFamily="34" charset="-128"/>
              </a:rPr>
              <a:t>Working like I own it</a:t>
            </a:r>
          </a:p>
        </p:txBody>
      </p:sp>
    </p:spTree>
    <p:extLst>
      <p:ext uri="{BB962C8B-B14F-4D97-AF65-F5344CB8AC3E}">
        <p14:creationId xmlns:p14="http://schemas.microsoft.com/office/powerpoint/2010/main" val="608796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p:txBody>
          <a:bodyPr anchor="ctr"/>
          <a:lstStyle/>
          <a:p>
            <a:r>
              <a:rPr lang="en-US" dirty="0"/>
              <a:t>Team leader</a:t>
            </a:r>
          </a:p>
        </p:txBody>
      </p:sp>
    </p:spTree>
    <p:extLst>
      <p:ext uri="{BB962C8B-B14F-4D97-AF65-F5344CB8AC3E}">
        <p14:creationId xmlns:p14="http://schemas.microsoft.com/office/powerpoint/2010/main" val="2586058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F5859-10C9-4588-9727-B9362E26C29D}"/>
              </a:ext>
            </a:extLst>
          </p:cNvPr>
          <p:cNvSpPr>
            <a:spLocks noGrp="1"/>
          </p:cNvSpPr>
          <p:nvPr>
            <p:ph type="title"/>
          </p:nvPr>
        </p:nvSpPr>
        <p:spPr>
          <a:xfrm>
            <a:off x="4320339" y="191458"/>
            <a:ext cx="3551321" cy="1325563"/>
          </a:xfrm>
        </p:spPr>
        <p:txBody>
          <a:bodyPr/>
          <a:lstStyle/>
          <a:p>
            <a:r>
              <a:rPr lang="en-US" dirty="0"/>
              <a:t>Responsibilities</a:t>
            </a:r>
          </a:p>
        </p:txBody>
      </p:sp>
      <p:sp>
        <p:nvSpPr>
          <p:cNvPr id="3" name="Content Placeholder 2">
            <a:extLst>
              <a:ext uri="{FF2B5EF4-FFF2-40B4-BE49-F238E27FC236}">
                <a16:creationId xmlns:a16="http://schemas.microsoft.com/office/drawing/2014/main" id="{5671D7E5-EF66-4BCD-8DAA-E9061157F0BE}"/>
              </a:ext>
            </a:extLst>
          </p:cNvPr>
          <p:cNvSpPr>
            <a:spLocks noGrp="1"/>
          </p:cNvSpPr>
          <p:nvPr>
            <p:ph idx="1"/>
          </p:nvPr>
        </p:nvSpPr>
        <p:spPr>
          <a:xfrm>
            <a:off x="2660983" y="1764362"/>
            <a:ext cx="6870031" cy="4186991"/>
          </a:xfrm>
        </p:spPr>
        <p:txBody>
          <a:bodyPr>
            <a:normAutofit/>
          </a:bodyPr>
          <a:lstStyle/>
          <a:p>
            <a:r>
              <a:rPr lang="en-US" dirty="0"/>
              <a:t>Communication</a:t>
            </a:r>
          </a:p>
          <a:p>
            <a:r>
              <a:rPr lang="en-US" dirty="0"/>
              <a:t>Keep a check on each guard</a:t>
            </a:r>
          </a:p>
          <a:p>
            <a:r>
              <a:rPr lang="en-US" dirty="0"/>
              <a:t>Look for the blind spots </a:t>
            </a:r>
          </a:p>
          <a:p>
            <a:r>
              <a:rPr lang="en-US" dirty="0"/>
              <a:t>Fire safety panel and Fire routes </a:t>
            </a:r>
          </a:p>
          <a:p>
            <a:r>
              <a:rPr lang="en-US" dirty="0"/>
              <a:t>Cameras on Unauthorized access areas</a:t>
            </a:r>
          </a:p>
          <a:p>
            <a:r>
              <a:rPr lang="en-US" dirty="0"/>
              <a:t>Give right Directions</a:t>
            </a:r>
          </a:p>
          <a:p>
            <a:r>
              <a:rPr lang="en-US" dirty="0"/>
              <a:t>Motivate</a:t>
            </a:r>
          </a:p>
          <a:p>
            <a:r>
              <a:rPr lang="en-US" dirty="0"/>
              <a:t>Building Strategies</a:t>
            </a:r>
          </a:p>
          <a:p>
            <a:endParaRPr lang="en-US" dirty="0"/>
          </a:p>
        </p:txBody>
      </p:sp>
      <p:sp>
        <p:nvSpPr>
          <p:cNvPr id="5" name="Slide Number Placeholder 5">
            <a:extLst>
              <a:ext uri="{FF2B5EF4-FFF2-40B4-BE49-F238E27FC236}">
                <a16:creationId xmlns:a16="http://schemas.microsoft.com/office/drawing/2014/main" id="{B02A8827-B1A1-2D2F-D6DD-E886B886C43E}"/>
              </a:ext>
            </a:extLst>
          </p:cNvPr>
          <p:cNvSpPr>
            <a:spLocks noGrp="1"/>
          </p:cNvSpPr>
          <p:nvPr>
            <p:ph type="sldNum" sz="quarter" idx="12"/>
          </p:nvPr>
        </p:nvSpPr>
        <p:spPr/>
        <p:txBody>
          <a:bodyPr/>
          <a:lstStyle/>
          <a:p>
            <a:fld id="{A49DFD55-3C28-40EF-9E31-A92D2E4017FF}" type="slidenum">
              <a:rPr lang="en-US" smtClean="0"/>
              <a:pPr/>
              <a:t>3</a:t>
            </a:fld>
            <a:endParaRPr lang="en-US" dirty="0"/>
          </a:p>
        </p:txBody>
      </p:sp>
    </p:spTree>
    <p:extLst>
      <p:ext uri="{BB962C8B-B14F-4D97-AF65-F5344CB8AC3E}">
        <p14:creationId xmlns:p14="http://schemas.microsoft.com/office/powerpoint/2010/main" val="1713219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alpha val="68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AFA5E-469B-2BFC-9D4E-BD1EC6E48CA0}"/>
              </a:ext>
            </a:extLst>
          </p:cNvPr>
          <p:cNvSpPr>
            <a:spLocks noGrp="1"/>
          </p:cNvSpPr>
          <p:nvPr>
            <p:ph type="ctrTitle"/>
          </p:nvPr>
        </p:nvSpPr>
        <p:spPr>
          <a:xfrm>
            <a:off x="5025189" y="906805"/>
            <a:ext cx="5682916" cy="5696552"/>
          </a:xfrm>
        </p:spPr>
        <p:txBody>
          <a:bodyPr/>
          <a:lstStyle/>
          <a:p>
            <a:r>
              <a:rPr lang="en-US" sz="3200" b="1" dirty="0"/>
              <a:t>Guard specific duties</a:t>
            </a:r>
            <a:br>
              <a:rPr lang="en-US" sz="3200" b="1" dirty="0"/>
            </a:br>
            <a:br>
              <a:rPr lang="en-US" sz="3200" b="1" dirty="0"/>
            </a:br>
            <a:br>
              <a:rPr lang="en-US" sz="1800" dirty="0"/>
            </a:br>
            <a:r>
              <a:rPr lang="en-US" sz="2000" dirty="0"/>
              <a:t>Providing random breaks</a:t>
            </a:r>
            <a:br>
              <a:rPr lang="en-US" sz="2000" dirty="0"/>
            </a:br>
            <a:br>
              <a:rPr lang="en-US" sz="2000" dirty="0"/>
            </a:br>
            <a:r>
              <a:rPr lang="en-US" sz="2000" dirty="0"/>
              <a:t>Random patrolling routes and times</a:t>
            </a:r>
            <a:br>
              <a:rPr lang="en-US" sz="2000" dirty="0"/>
            </a:br>
            <a:br>
              <a:rPr lang="en-US" sz="2000" dirty="0"/>
            </a:br>
            <a:r>
              <a:rPr lang="en-US" sz="2000" dirty="0"/>
              <a:t>Keeping guard name confidential</a:t>
            </a:r>
            <a:br>
              <a:rPr lang="en-US" sz="2000" dirty="0"/>
            </a:br>
            <a:br>
              <a:rPr lang="en-US" sz="2000" dirty="0"/>
            </a:br>
            <a:r>
              <a:rPr lang="en-US" sz="2000" dirty="0"/>
              <a:t>No food and drinks in the office </a:t>
            </a:r>
            <a:br>
              <a:rPr lang="en-US" sz="2000" dirty="0"/>
            </a:br>
            <a:br>
              <a:rPr lang="en-US" sz="2000" dirty="0"/>
            </a:br>
            <a:r>
              <a:rPr lang="en-US" sz="2000" dirty="0"/>
              <a:t>No earphones or calls during the shift</a:t>
            </a:r>
            <a:br>
              <a:rPr lang="en-US" sz="2000" dirty="0"/>
            </a:br>
            <a:br>
              <a:rPr lang="en-US" sz="2000" dirty="0"/>
            </a:br>
            <a:r>
              <a:rPr lang="en-US" sz="2000" dirty="0"/>
              <a:t>Regular audits of memo books and uniforms</a:t>
            </a:r>
            <a:br>
              <a:rPr lang="en-US" sz="2000" dirty="0"/>
            </a:br>
            <a:br>
              <a:rPr lang="en-US" sz="2000" dirty="0"/>
            </a:br>
            <a:endParaRPr lang="en-US" sz="2000" dirty="0"/>
          </a:p>
        </p:txBody>
      </p:sp>
      <p:cxnSp>
        <p:nvCxnSpPr>
          <p:cNvPr id="21" name="Straight Connector 20">
            <a:extLst>
              <a:ext uri="{FF2B5EF4-FFF2-40B4-BE49-F238E27FC236}">
                <a16:creationId xmlns:a16="http://schemas.microsoft.com/office/drawing/2014/main" id="{944268F6-A361-9907-F87F-9C4377ECAE6D}"/>
              </a:ext>
              <a:ext uri="{C183D7F6-B498-43B3-948B-1728B52AA6E4}">
                <adec:decorative xmlns:adec="http://schemas.microsoft.com/office/drawing/2017/decorative" val="1"/>
              </a:ext>
            </a:extLst>
          </p:cNvPr>
          <p:cNvCxnSpPr>
            <a:cxnSpLocks/>
          </p:cNvCxnSpPr>
          <p:nvPr/>
        </p:nvCxnSpPr>
        <p:spPr>
          <a:xfrm flipH="1" flipV="1">
            <a:off x="0" y="254643"/>
            <a:ext cx="6096000" cy="85576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1459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2451859" y="421106"/>
            <a:ext cx="7288282" cy="1066063"/>
          </a:xfrm>
        </p:spPr>
        <p:txBody>
          <a:bodyPr/>
          <a:lstStyle/>
          <a:p>
            <a:r>
              <a:rPr lang="en-US" b="1" dirty="0"/>
              <a:t>Engagement with the Students</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2358188" y="1804737"/>
            <a:ext cx="7519737" cy="4365393"/>
          </a:xfrm>
        </p:spPr>
        <p:txBody>
          <a:bodyPr>
            <a:normAutofit fontScale="92500" lnSpcReduction="20000"/>
          </a:bodyPr>
          <a:lstStyle/>
          <a:p>
            <a:r>
              <a:rPr lang="en-US" sz="2000" b="0" dirty="0"/>
              <a:t>Safe approach</a:t>
            </a:r>
          </a:p>
          <a:p>
            <a:endParaRPr lang="en-US" sz="2000" b="0" dirty="0"/>
          </a:p>
          <a:p>
            <a:r>
              <a:rPr lang="en-US" sz="2000" b="0" dirty="0"/>
              <a:t>Building the trust</a:t>
            </a:r>
          </a:p>
          <a:p>
            <a:endParaRPr lang="en-US" sz="2000" b="0" dirty="0"/>
          </a:p>
          <a:p>
            <a:r>
              <a:rPr lang="en-US" sz="2000" b="0" dirty="0"/>
              <a:t>Respecting the culture</a:t>
            </a:r>
          </a:p>
          <a:p>
            <a:endParaRPr lang="en-US" sz="2000" b="0" dirty="0"/>
          </a:p>
          <a:p>
            <a:r>
              <a:rPr lang="en-US" sz="2000" b="0" dirty="0"/>
              <a:t>Friendly nature but following the professionalism</a:t>
            </a:r>
          </a:p>
          <a:p>
            <a:endParaRPr lang="en-US" sz="2000" b="0" dirty="0"/>
          </a:p>
          <a:p>
            <a:r>
              <a:rPr lang="en-US" sz="2000" b="0" dirty="0"/>
              <a:t>Keeping the information confidential</a:t>
            </a:r>
          </a:p>
          <a:p>
            <a:endParaRPr lang="en-US" sz="2000" b="0" dirty="0"/>
          </a:p>
          <a:p>
            <a:r>
              <a:rPr lang="en-US" sz="2000" b="0" dirty="0"/>
              <a:t>Giving the knowledge about the safety protocols and procedures</a:t>
            </a:r>
          </a:p>
          <a:p>
            <a:endParaRPr lang="en-US" sz="2000" b="0" dirty="0"/>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p:txBody>
          <a:bodyPr/>
          <a:lstStyle/>
          <a:p>
            <a:fld id="{A49DFD55-3C28-40EF-9E31-A92D2E4017FF}" type="slidenum">
              <a:rPr lang="en-US" smtClean="0"/>
              <a:pPr/>
              <a:t>5</a:t>
            </a:fld>
            <a:endParaRPr lang="en-US" dirty="0"/>
          </a:p>
        </p:txBody>
      </p:sp>
    </p:spTree>
    <p:extLst>
      <p:ext uri="{BB962C8B-B14F-4D97-AF65-F5344CB8AC3E}">
        <p14:creationId xmlns:p14="http://schemas.microsoft.com/office/powerpoint/2010/main" val="3571516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alpha val="68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C97BE-403B-122E-90D1-2788978A0B6F}"/>
              </a:ext>
            </a:extLst>
          </p:cNvPr>
          <p:cNvSpPr>
            <a:spLocks noGrp="1"/>
          </p:cNvSpPr>
          <p:nvPr>
            <p:ph type="ctrTitle"/>
          </p:nvPr>
        </p:nvSpPr>
        <p:spPr>
          <a:xfrm>
            <a:off x="6095999" y="794084"/>
            <a:ext cx="5538537" cy="5654842"/>
          </a:xfrm>
        </p:spPr>
        <p:txBody>
          <a:bodyPr/>
          <a:lstStyle/>
          <a:p>
            <a:r>
              <a:rPr lang="en-US" sz="3200" b="1" dirty="0"/>
              <a:t>Engagement with the Faculties</a:t>
            </a:r>
            <a:br>
              <a:rPr lang="en-US" sz="3200" b="1" dirty="0"/>
            </a:br>
            <a:br>
              <a:rPr lang="en-US" sz="3200" dirty="0"/>
            </a:br>
            <a:br>
              <a:rPr lang="en-US" sz="1800" dirty="0"/>
            </a:br>
            <a:br>
              <a:rPr lang="en-US" sz="1800" dirty="0"/>
            </a:br>
            <a:r>
              <a:rPr lang="en-US" sz="2000" dirty="0"/>
              <a:t>communicating and clarifying the responsibilities timely</a:t>
            </a:r>
            <a:br>
              <a:rPr lang="en-US" sz="2000" dirty="0"/>
            </a:br>
            <a:br>
              <a:rPr lang="en-US" sz="2000" dirty="0"/>
            </a:br>
            <a:r>
              <a:rPr lang="en-US" sz="2000" dirty="0"/>
              <a:t>showing up with new strategies</a:t>
            </a:r>
            <a:br>
              <a:rPr lang="en-US" sz="2000" dirty="0"/>
            </a:br>
            <a:br>
              <a:rPr lang="en-US" sz="2000" dirty="0"/>
            </a:br>
            <a:r>
              <a:rPr lang="en-US" sz="2000" dirty="0"/>
              <a:t>discussing the emergency response plans </a:t>
            </a:r>
            <a:br>
              <a:rPr lang="en-US" sz="2000" dirty="0"/>
            </a:br>
            <a:br>
              <a:rPr lang="en-US" sz="2000" dirty="0"/>
            </a:br>
            <a:r>
              <a:rPr lang="en-US" sz="2000" dirty="0"/>
              <a:t>feedbacks from the management</a:t>
            </a:r>
            <a:br>
              <a:rPr lang="en-US" sz="2000" dirty="0"/>
            </a:br>
            <a:br>
              <a:rPr lang="en-US" sz="2000" dirty="0"/>
            </a:br>
            <a:r>
              <a:rPr lang="en-US" sz="2000" dirty="0"/>
              <a:t>coordinating and handling the situation</a:t>
            </a:r>
            <a:br>
              <a:rPr lang="en-US" sz="2000" dirty="0"/>
            </a:br>
            <a:endParaRPr lang="en-US" sz="2000" dirty="0"/>
          </a:p>
        </p:txBody>
      </p:sp>
    </p:spTree>
    <p:extLst>
      <p:ext uri="{BB962C8B-B14F-4D97-AF65-F5344CB8AC3E}">
        <p14:creationId xmlns:p14="http://schemas.microsoft.com/office/powerpoint/2010/main" val="334696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E2E6A-35EC-1B8E-0FD7-8C67870ACA64}"/>
              </a:ext>
            </a:extLst>
          </p:cNvPr>
          <p:cNvSpPr>
            <a:spLocks noGrp="1"/>
          </p:cNvSpPr>
          <p:nvPr>
            <p:ph type="title"/>
          </p:nvPr>
        </p:nvSpPr>
        <p:spPr>
          <a:xfrm>
            <a:off x="2933700" y="613611"/>
            <a:ext cx="8420100" cy="894000"/>
          </a:xfrm>
        </p:spPr>
        <p:txBody>
          <a:bodyPr/>
          <a:lstStyle/>
          <a:p>
            <a:r>
              <a:rPr lang="en-US" b="1" dirty="0"/>
              <a:t>STRATEGIES</a:t>
            </a:r>
          </a:p>
        </p:txBody>
      </p:sp>
      <p:sp>
        <p:nvSpPr>
          <p:cNvPr id="4" name="Content Placeholder 3">
            <a:extLst>
              <a:ext uri="{FF2B5EF4-FFF2-40B4-BE49-F238E27FC236}">
                <a16:creationId xmlns:a16="http://schemas.microsoft.com/office/drawing/2014/main" id="{AD41E9FF-9875-7E5B-7A54-5B519692751E}"/>
              </a:ext>
            </a:extLst>
          </p:cNvPr>
          <p:cNvSpPr>
            <a:spLocks noGrp="1"/>
          </p:cNvSpPr>
          <p:nvPr>
            <p:ph sz="half" idx="13"/>
          </p:nvPr>
        </p:nvSpPr>
        <p:spPr>
          <a:xfrm>
            <a:off x="2933700" y="1648326"/>
            <a:ext cx="8616616" cy="4837534"/>
          </a:xfrm>
        </p:spPr>
        <p:txBody>
          <a:bodyPr>
            <a:normAutofit lnSpcReduction="10000"/>
          </a:bodyPr>
          <a:lstStyle/>
          <a:p>
            <a:r>
              <a:rPr lang="en-US" dirty="0"/>
              <a:t>Having the Male and Female Guards on a shift</a:t>
            </a:r>
          </a:p>
          <a:p>
            <a:endParaRPr lang="en-US" dirty="0"/>
          </a:p>
          <a:p>
            <a:r>
              <a:rPr lang="en-US" dirty="0"/>
              <a:t>Removing the language barriers</a:t>
            </a:r>
          </a:p>
          <a:p>
            <a:endParaRPr lang="en-US" dirty="0"/>
          </a:p>
          <a:p>
            <a:r>
              <a:rPr lang="en-US" dirty="0"/>
              <a:t>Using the patrol tags and site phones</a:t>
            </a:r>
          </a:p>
          <a:p>
            <a:endParaRPr lang="en-US" dirty="0"/>
          </a:p>
          <a:p>
            <a:r>
              <a:rPr lang="en-US" dirty="0"/>
              <a:t>Conducting the sessions with the guards </a:t>
            </a:r>
          </a:p>
          <a:p>
            <a:endParaRPr lang="en-US" dirty="0"/>
          </a:p>
          <a:p>
            <a:r>
              <a:rPr lang="en-US" dirty="0"/>
              <a:t>Using the radios for fast and clear communication</a:t>
            </a:r>
          </a:p>
          <a:p>
            <a:endParaRPr lang="en-US" dirty="0"/>
          </a:p>
          <a:p>
            <a:r>
              <a:rPr lang="en-US" dirty="0"/>
              <a:t>Support resources</a:t>
            </a:r>
          </a:p>
          <a:p>
            <a:endParaRPr lang="en-US" dirty="0"/>
          </a:p>
          <a:p>
            <a:r>
              <a:rPr lang="en-US" dirty="0"/>
              <a:t>Emergency drills and simulations</a:t>
            </a:r>
          </a:p>
        </p:txBody>
      </p:sp>
      <p:sp>
        <p:nvSpPr>
          <p:cNvPr id="8" name="Slide Number Placeholder 7">
            <a:extLst>
              <a:ext uri="{FF2B5EF4-FFF2-40B4-BE49-F238E27FC236}">
                <a16:creationId xmlns:a16="http://schemas.microsoft.com/office/drawing/2014/main" id="{8F44A959-C2BB-9170-C99C-1A2EDB71B994}"/>
              </a:ext>
            </a:extLst>
          </p:cNvPr>
          <p:cNvSpPr>
            <a:spLocks noGrp="1"/>
          </p:cNvSpPr>
          <p:nvPr>
            <p:ph type="sldNum" sz="quarter" idx="12"/>
          </p:nvPr>
        </p:nvSpPr>
        <p:spPr/>
        <p:txBody>
          <a:bodyPr/>
          <a:lstStyle/>
          <a:p>
            <a:fld id="{A49DFD55-3C28-40EF-9E31-A92D2E4017FF}" type="slidenum">
              <a:rPr lang="en-US" smtClean="0"/>
              <a:pPr/>
              <a:t>7</a:t>
            </a:fld>
            <a:endParaRPr lang="en-US" dirty="0"/>
          </a:p>
        </p:txBody>
      </p:sp>
    </p:spTree>
    <p:extLst>
      <p:ext uri="{BB962C8B-B14F-4D97-AF65-F5344CB8AC3E}">
        <p14:creationId xmlns:p14="http://schemas.microsoft.com/office/powerpoint/2010/main" val="103458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F70DD-F52B-5054-76E3-AECD58964F52}"/>
              </a:ext>
            </a:extLst>
          </p:cNvPr>
          <p:cNvSpPr>
            <a:spLocks noGrp="1"/>
          </p:cNvSpPr>
          <p:nvPr>
            <p:ph type="ctrTitle"/>
          </p:nvPr>
        </p:nvSpPr>
        <p:spPr/>
        <p:txBody>
          <a:bodyPr/>
          <a:lstStyle/>
          <a:p>
            <a:r>
              <a:rPr lang="en-US" dirty="0"/>
              <a:t>Thank you</a:t>
            </a:r>
          </a:p>
        </p:txBody>
      </p:sp>
      <p:sp>
        <p:nvSpPr>
          <p:cNvPr id="4" name="Slide Number Placeholder 3">
            <a:extLst>
              <a:ext uri="{FF2B5EF4-FFF2-40B4-BE49-F238E27FC236}">
                <a16:creationId xmlns:a16="http://schemas.microsoft.com/office/drawing/2014/main" id="{14032B9D-8988-DACA-08DC-7ABBBC9A176D}"/>
              </a:ext>
            </a:extLst>
          </p:cNvPr>
          <p:cNvSpPr>
            <a:spLocks noGrp="1"/>
          </p:cNvSpPr>
          <p:nvPr>
            <p:ph type="sldNum" sz="quarter" idx="12"/>
          </p:nvPr>
        </p:nvSpPr>
        <p:spPr/>
        <p:txBody>
          <a:bodyPr/>
          <a:lstStyle/>
          <a:p>
            <a:fld id="{A49DFD55-3C28-40EF-9E31-A92D2E4017FF}" type="slidenum">
              <a:rPr lang="en-US" smtClean="0"/>
              <a:pPr/>
              <a:t>8</a:t>
            </a:fld>
            <a:endParaRPr lang="en-US" dirty="0"/>
          </a:p>
        </p:txBody>
      </p:sp>
    </p:spTree>
    <p:extLst>
      <p:ext uri="{BB962C8B-B14F-4D97-AF65-F5344CB8AC3E}">
        <p14:creationId xmlns:p14="http://schemas.microsoft.com/office/powerpoint/2010/main" val="12557951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9168DCE-134F-4610-A6AA-88CEBE8D71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CABF691C-888B-4061-8A6F-D5CE84A0254B}">
  <ds:schemaRefs>
    <ds:schemaRef ds:uri="http://schemas.microsoft.com/sharepoint/v3/contenttype/forms"/>
  </ds:schemaRefs>
</ds:datastoreItem>
</file>

<file path=customXml/itemProps3.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TM03457496[[fn=Parallax]]</Template>
  <TotalTime>48</TotalTime>
  <Words>251</Words>
  <Application>Microsoft Office PowerPoint</Application>
  <PresentationFormat>Widescreen</PresentationFormat>
  <Paragraphs>51</Paragraphs>
  <Slides>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 Unicode MS</vt:lpstr>
      <vt:lpstr>Arial</vt:lpstr>
      <vt:lpstr>Calibri</vt:lpstr>
      <vt:lpstr>Corbel</vt:lpstr>
      <vt:lpstr>Parallax</vt:lpstr>
      <vt:lpstr>What makes a leader?  Guts to stand and confront the negative phase   No blame Games  Act as a sense of commitment  Initiative in decision making  Working like I own it</vt:lpstr>
      <vt:lpstr>Team leader</vt:lpstr>
      <vt:lpstr>Responsibilities</vt:lpstr>
      <vt:lpstr>Guard specific duties   Providing random breaks  Random patrolling routes and times  Keeping guard name confidential  No food and drinks in the office   No earphones or calls during the shift  Regular audits of memo books and uniforms  </vt:lpstr>
      <vt:lpstr>Engagement with the Students</vt:lpstr>
      <vt:lpstr>Engagement with the Faculties    communicating and clarifying the responsibilities timely  showing up with new strategies  discussing the emergency response plans   feedbacks from the management  coordinating and handling the situation </vt:lpstr>
      <vt:lpstr>STRATEGIES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Keshav Sharma</dc:creator>
  <cp:lastModifiedBy>Keshav Sharma</cp:lastModifiedBy>
  <cp:revision>1</cp:revision>
  <dcterms:created xsi:type="dcterms:W3CDTF">2024-10-03T02:21:30Z</dcterms:created>
  <dcterms:modified xsi:type="dcterms:W3CDTF">2024-10-03T03:10:14Z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